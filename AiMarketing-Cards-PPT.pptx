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AiMarketing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卡片功能体系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全栈营销 SaaS 平台 · 统一化组件设计 · V1.8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37490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749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Next.js 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37490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749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37490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3749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37490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3749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Prisma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37490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3749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Electron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卡片功能总览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统一设计语言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AiMarketing 全平台采用 </a:t>
            </a:r>
            <a:pPr indent="0" marL="0">
              <a:buNone/>
            </a:pPr>
            <a:r>
              <a:rPr lang="en-US" sz="1300" b="1" dirty="0">
                <a:solidFill>
                  <a:srgbClr val="7B2CBF"/>
                </a:solidFill>
              </a:rPr>
              <a:t>卡片式组件架构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，将复杂业务信息封装在视觉统一的容器中。
核心设计原则: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信息密度优先 — 一屏展示最大有效信息量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状态可视化 — 颜色/图标即时反馈运行状态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操作内联 — 关键按钮嵌入卡片，减少跳转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响应式适配 — 桌面端/Electron 双端一致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20116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09728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4800600" y="1280160"/>
            <a:ext cx="411480" cy="41148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134416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85232" y="1298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账号卡片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73168" y="175564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指纹浏览器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账号管理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12280" y="1097280"/>
            <a:ext cx="20116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12280" y="1097280"/>
            <a:ext cx="20116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0" y="1280160"/>
            <a:ext cx="411480" cy="41148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134416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34072" y="1298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任务队列卡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922008" y="175564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批量发布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任务管理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2423160"/>
            <a:ext cx="20116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242316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6"/>
          <p:cNvSpPr/>
          <p:nvPr/>
        </p:nvSpPr>
        <p:spPr>
          <a:xfrm>
            <a:off x="4800600" y="2606040"/>
            <a:ext cx="411480" cy="41148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67004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85232" y="2624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数据统计卡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73168" y="308152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关键指标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812280" y="2423160"/>
            <a:ext cx="20116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12280" y="242316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1"/>
          <p:cNvSpPr/>
          <p:nvPr/>
        </p:nvSpPr>
        <p:spPr>
          <a:xfrm>
            <a:off x="6949440" y="2606040"/>
            <a:ext cx="411480" cy="4114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670048"/>
            <a:ext cx="283464" cy="2834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34072" y="2624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设备卡片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922008" y="308152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Q1 容器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状态监控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663440" y="3749040"/>
            <a:ext cx="20116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63440" y="3749040"/>
            <a:ext cx="20116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Shape 26"/>
          <p:cNvSpPr/>
          <p:nvPr/>
        </p:nvSpPr>
        <p:spPr>
          <a:xfrm>
            <a:off x="4800600" y="3931920"/>
            <a:ext cx="411480" cy="41148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995928"/>
            <a:ext cx="283464" cy="28346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85232" y="39502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配置卡片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773168" y="440740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模板设置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参数配置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812280" y="3749040"/>
            <a:ext cx="20116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812280" y="374904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1"/>
          <p:cNvSpPr/>
          <p:nvPr/>
        </p:nvSpPr>
        <p:spPr>
          <a:xfrm>
            <a:off x="6949440" y="3931920"/>
            <a:ext cx="411480" cy="41148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448" y="3995928"/>
            <a:ext cx="283464" cy="28346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434072" y="39502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素材卡片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922008" y="4407408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文件列表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缩略预览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账号卡片 — 抖音批量发布工作台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8B5CF6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/my-fingerprint  ·  V1.8 重构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1645920"/>
          </a:xfrm>
          <a:prstGeom prst="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8B5CF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1737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古风旅行账号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299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抖音 · 端口 19001 · 运行中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764792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19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🟢 运行中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46888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F4444">
              <a:alpha val="12000"/>
            </a:srgbClr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468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停止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201168" cy="201168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63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47488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平台筛选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1673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仅显示 bindType=manual 的抖音账号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29968"/>
            <a:ext cx="201168" cy="201168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1984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实时状态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左侧彩色状态条: 绿=运行 / 蓝=绑定 / 灰=未绑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96896"/>
            <a:ext cx="201168" cy="201168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2551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一键操作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启动/停止按钮内嵌卡片右侧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163824"/>
            <a:ext cx="201168" cy="201168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47488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选中高亮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47488" y="3374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紫色边框+背景标识当前工作账号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730752"/>
            <a:ext cx="201168" cy="201168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47488" y="3685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URL追踪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3941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运行中显示浏览器访问的实时URL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297680"/>
            <a:ext cx="201168" cy="201168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4297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端口绑定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47488" y="4507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每个账号关联独立CDP端口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任务队列表格 — 批量发布核心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06B6D4">
              <a:alpha val="13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PublishTask Interface  ·  新增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572000" cy="2560320"/>
          </a:xfrm>
          <a:prstGeom prst="rect">
            <a:avLst>
              <a:gd name="adj" fmla="val 357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457200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#     视频                        文案              状态       操作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    7bce1ac8.mp4          西溪南古村落        ✓ 完成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93852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13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     fcd3db2e.mp4          西溪南              ✓ 完成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44144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16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    a1b2c3d4.mp4          徽州文化之旅         ○ 待发      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192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    e5f6g7h8.mp4          黄山云海             ○ 待发      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PublishTask 数据结构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1783080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783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91072" y="1783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14032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唯一ID (timestamp+random)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213055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1305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videoName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91072" y="21305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14032" y="2130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素材仓库名称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2478024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4780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title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24780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14032" y="24780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作品标题(≤30字)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2825496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825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status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91072" y="28254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14032" y="28254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pending|publishing|done|failed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822960"/>
          </a:xfrm>
          <a:prstGeom prst="rect">
            <a:avLst>
              <a:gd name="adj" fmla="val 11111"/>
            </a:avLst>
          </a:prstGeom>
          <a:solidFill>
            <a:srgbClr val="F0E6FF"/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⚙️ 发布控制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42062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10B981">
              <a:alpha val="13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10312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○ 立即依次发布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0" y="420624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🕐 定时发布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间隔: [ 30 ] 秒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0" y="41605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▶ 开始批量发布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统计卡片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6245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810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今日发布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" y="1234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23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828800" y="1810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+15%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6040" y="109728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1097280"/>
            <a:ext cx="20116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0" y="1280160"/>
            <a:ext cx="457200" cy="4572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96" y="136245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0" y="1810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播放总量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91840" y="1234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12.8K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977640" y="1810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+8.3%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109728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109728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7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1362456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92040" y="1810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互动率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40680" y="1234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4.2%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126480" y="1810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-0.3%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903720" y="109728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903720" y="109728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3"/>
          <p:cNvSpPr/>
          <p:nvPr/>
        </p:nvSpPr>
        <p:spPr>
          <a:xfrm>
            <a:off x="7040880" y="1280160"/>
            <a:ext cx="457200" cy="4572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1362456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40880" y="18105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活跃账号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589520" y="1234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7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8275320" y="18105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+2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数据来源与采集机制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4572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10B981">
              <a:alpha val="9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457200" y="3017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采集入口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828800" y="301752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/api/dashboard/sync 手动触发 → BrowserManager.collectProfileData()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57200" y="3401568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10B981">
              <a:alpha val="9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457200" y="3401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采集范围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828800" y="340156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bindType=manual 且 platform=douyin 的所有已绑定账号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457200" y="3785616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10B981">
              <a:alpha val="9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457200" y="37856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采集内容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1828800" y="37856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个人主页数据(粉丝/作品/点赞/评论)写入 DashboardStat 表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457200" y="4169664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10B981">
              <a:alpha val="900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457200" y="4169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更新频率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1828800" y="41696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手动触发（用户点击「同步」按钮）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457200" y="4553712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10B981">
              <a:alpha val="900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457200" y="45537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技术链路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1828800" y="455371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Electron IPC → Playwright CDP → DOM解析 → API写SQLite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设备卡片 &amp; 管理面板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Q1 设备卡片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/admin/devices  ·  /admin/phy-devices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T0001 - Q1 容器 #1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20665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API:30001  ADB:30000  RPA:30002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97280" y="235915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13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59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30001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965960" y="235915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13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965960" y="2359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30000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834640" y="235915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64748B">
              <a:alpha val="13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834640" y="2359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30002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108960" y="269748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3108960" y="2697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远程截图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管理中心卡片矩阵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754880" y="137160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137160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4864608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数据看板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64608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/admin/dashboard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858000" y="137160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0" y="1371600"/>
            <a:ext cx="196596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4"/>
          <p:cNvSpPr/>
          <p:nvPr/>
        </p:nvSpPr>
        <p:spPr>
          <a:xfrm>
            <a:off x="6967728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客户中心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967728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/admin/users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54880" y="233172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33172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4864608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社交账号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64608" y="2770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/admin/social-accounts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858000" y="233172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858000" y="233172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2"/>
          <p:cNvSpPr/>
          <p:nvPr/>
        </p:nvSpPr>
        <p:spPr>
          <a:xfrm>
            <a:off x="6967728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设备管理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967728" y="2770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/admin/devices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54880" y="329184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54880" y="3291840"/>
            <a:ext cx="196596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9" name="Text 36"/>
          <p:cNvSpPr/>
          <p:nvPr/>
        </p:nvSpPr>
        <p:spPr>
          <a:xfrm>
            <a:off x="4864608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直播中控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864608" y="3730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/live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858000" y="3291840"/>
            <a:ext cx="19659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858000" y="3291840"/>
            <a:ext cx="19659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0"/>
          <p:cNvSpPr/>
          <p:nvPr/>
        </p:nvSpPr>
        <p:spPr>
          <a:xfrm>
            <a:off x="6967728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代理工作台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967728" y="3730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/admin/agent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57200" y="4114800"/>
            <a:ext cx="8229600" cy="822960"/>
          </a:xfrm>
          <a:prstGeom prst="rect">
            <a:avLst>
              <a:gd name="adj" fmla="val 8889"/>
            </a:avLst>
          </a:prstGeom>
          <a:solidFill>
            <a:srgbClr val="FFF8E7">
              <a:alpha val="8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💡 设计规范要点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所有管理面板卡片统一采用：顶部彩色状态条(4px) + 圆角矩形(8px) + 微投影 + 内边距12px。颜色编码：紫色=核心 / 青色=内容 / 绿色=数据 / 橙色=设备 / 粉色=直播 / 红色=运营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 — 卡片组件分层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777240"/>
            <a:ext cx="27432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2801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 层 (React Components)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49961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page.tsx 客户端组件 / useState 状态管理 / Tailwind CSS 样式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18105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768096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920240"/>
            <a:ext cx="73152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1031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029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层 (Next.js Routes)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3225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/api/* route.ts 处理请求 / JWT Cookie 鉴权 / Prisma ORM 查询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26334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768096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743200"/>
            <a:ext cx="73152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2852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数据层 (Prisma + SQLite)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1455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Account / Device / PublishTask / DashboardStat 数据模型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34564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566160"/>
            <a:ext cx="768096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56616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执行层 (Electron + Playwright)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396849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BrowserInstance 管理 / CDP 通信 / douyin-publish.js 自动化脚本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'use client'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67712" y="448056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2267712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useState / useEffect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86784" y="448056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986784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fetch credentials:include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05856" y="448056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5705856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IPC invoke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24928" y="4480560"/>
            <a:ext cx="1627632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7424928" y="448056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CDP Protocol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AiMarketing 卡片体系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D4FF"/>
                </a:solidFill>
              </a:rPr>
              <a:t>让每一个业务单元都清晰可见、触手可及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01168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卡片类型覆盖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9992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账号 / 任务 / 数据 / 设备 / 配置 / 素材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920240"/>
            <a:ext cx="201168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角色层级适配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9992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admin / editor / end-user 差异化展示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1920240"/>
            <a:ext cx="201168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部署形态支持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9992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浏览器 + Electron 桌面客户端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1920240"/>
            <a:ext cx="2011680" cy="182880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∞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4088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可扩展设计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29992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新增卡片只需复用样式 + 定义接口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AiMarketing V1.8  |  Next.js 14 + TypeScript + Tailwind CSS  |  2026-06-12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github.com:57974422j-art/AiMarketing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AiMarketing 卡片功能体系</dc:title>
  <dc:subject>PptxGenJS Presentation</dc:subject>
  <dc:creator>AiMarketing</dc:creator>
  <cp:lastModifiedBy>AiMarketing</cp:lastModifiedBy>
  <cp:revision>1</cp:revision>
  <dcterms:created xsi:type="dcterms:W3CDTF">2026-06-12T10:54:26Z</dcterms:created>
  <dcterms:modified xsi:type="dcterms:W3CDTF">2026-06-12T10:54:26Z</dcterms:modified>
</cp:coreProperties>
</file>